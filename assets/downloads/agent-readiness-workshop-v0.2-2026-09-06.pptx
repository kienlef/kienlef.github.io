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asking participants to point at one workflow where decisions currently slow down, fragment, or disappear. Do not discuss models or tools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a single finger-point to the decision friction. If the team starts ideating solutions, return to the current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Reject “automate reporting” and similar abstractions. Require a trigger, a repeated task, and a handoff or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team cannot place the path cleanly, Workflow Boundary scores 0. Ask what happens immediately before and after the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accept “the business” or “the user.” If ownership is collective or split, place an ownership blocker.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Prefer the smallest safe authority. “Support” is not a permission level. Force each step into one lane.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can be an artifact, system, policy, metric, or named owner. Opinions do not count as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average optimism. Ask “show me the evidence” before allowing a score of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 blockers: no accountable owner, no review gate, unclear permission, unreviewed sensitive data, direct consequential action without approval, or failure that harms before 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 at least two plausible failures before allowing Failure Visibility to score 2. “Users will notice” is not a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what the reviewer sees, when they see it, whether they can override, and what happens when no reviewer is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Governance is not a late approval step. Include data classification, approved environment, retention, monitoring, change control, and retirement.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call 13–14 production-ready. This is only a strong signal for a controlled pilot after governance and access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example is generic and synthetic. It demonstrates a narrow agent role with clear human review and visible failures.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praising a precise “not ready” result. Readiness work is successful when uncertainty becomes visible before the agent makes it expensive.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21792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479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 KIENLE  |  AGENT READINESS WORKSHOP  v0.2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355080" y="6217920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60" kern="0" dirty="0">
                <a:solidFill>
                  <a:srgbClr val="7479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EDUCATIONAL MATERIAL  ·  SYNTHETIC EXAMPLES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4754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0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80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217920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7B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 KIENLE  |  AGENT READINESS WORKSHOP  v0.2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6217920"/>
            <a:ext cx="5184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60" kern="0" dirty="0">
                <a:solidFill>
                  <a:srgbClr val="B7B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OWNERSHIP BEFORE AUTOMATION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4754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7BCD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4754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0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kienlef.github.io/labs/agent-readiness-canvas.html" TargetMode="External"/><Relationship Id="rId2" Type="http://schemas.openxmlformats.org/officeDocument/2006/relationships/hyperlink" Target="https://kienlef.github.io/ai-agents-in-operations/" TargetMode="Externa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F7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DECK + PRINTABLE KIT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readiness is a decision-system check, not an AI capability pitch.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58368" y="3273552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7B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30-minute tabletop session for operations professionals. Make boundaries, evidence, ownership, failure paths, and permissions physically visible before anyone builds.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543800" y="932688"/>
            <a:ext cx="3822192" cy="4443984"/>
          </a:xfrm>
          <a:prstGeom prst="roundRect">
            <a:avLst>
              <a:gd name="adj" fmla="val 1914"/>
            </a:avLst>
          </a:prstGeom>
          <a:solidFill>
            <a:srgbClr val="12102B"/>
          </a:solidFill>
          <a:ln w="12700">
            <a:solidFill>
              <a:srgbClr val="162E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2128" y="1261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F7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TABLE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882128" y="1755648"/>
            <a:ext cx="2395728" cy="658368"/>
          </a:xfrm>
          <a:prstGeom prst="roundRect">
            <a:avLst>
              <a:gd name="adj" fmla="val 11111"/>
            </a:avLst>
          </a:prstGeom>
          <a:solidFill>
            <a:srgbClr val="2F2FE4"/>
          </a:solidFill>
          <a:ln w="12700">
            <a:solidFill>
              <a:srgbClr val="2F2F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82128" y="1755648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CARD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394192" y="2679192"/>
            <a:ext cx="2423160" cy="329184"/>
          </a:xfrm>
          <a:prstGeom prst="roundRect">
            <a:avLst>
              <a:gd name="adj" fmla="val 22222"/>
            </a:avLst>
          </a:prstGeom>
          <a:solidFill>
            <a:srgbClr val="1F8BFF"/>
          </a:solidFill>
          <a:ln w="12700">
            <a:solidFill>
              <a:srgbClr val="1F8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94192" y="267919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STRING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82128" y="3310128"/>
            <a:ext cx="2395728" cy="658368"/>
          </a:xfrm>
          <a:prstGeom prst="roundRect">
            <a:avLst>
              <a:gd name="adj" fmla="val 11111"/>
            </a:avLst>
          </a:prstGeom>
          <a:solidFill>
            <a:srgbClr val="162E93"/>
          </a:solidFill>
          <a:ln w="12700">
            <a:solidFill>
              <a:srgbClr val="162E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82128" y="3310128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CARDS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42832" y="4242816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7A6FF0"/>
          </a:solidFill>
          <a:ln w="12700">
            <a:solidFill>
              <a:srgbClr val="7A6F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42832" y="424281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 1  2 TOKENS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2852928"/>
            <a:ext cx="2240280" cy="0"/>
          </a:xfrm>
          <a:prstGeom prst="line">
            <a:avLst/>
          </a:prstGeom>
          <a:noFill/>
          <a:ln w="63500">
            <a:solidFill>
              <a:srgbClr val="1F8BFF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58368" y="507492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B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Frank Kienle  ·  Version 0.2  ·  6 September 2026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4754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7BCD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572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6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workflow should leave the room with one defensible next decision.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3429000" cy="36118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719072"/>
            <a:ext cx="420624" cy="420624"/>
          </a:xfrm>
          <a:prstGeom prst="ellipse">
            <a:avLst/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pic>
        <p:nvPicPr>
          <p:cNvPr id="6" name="Image 0" descr="Time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805940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286000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minutes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2642616"/>
            <a:ext cx="3026664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quickly enough to expose disagreement. The goal is not perfect documentation.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536192"/>
            <a:ext cx="3429000" cy="3611880"/>
          </a:xfrm>
          <a:prstGeom prst="roundRect">
            <a:avLst>
              <a:gd name="adj" fmla="val 2133"/>
            </a:avLst>
          </a:prstGeom>
          <a:solidFill>
            <a:srgbClr val="F1F4FF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90288" y="1719072"/>
            <a:ext cx="420624" cy="420624"/>
          </a:xfrm>
          <a:prstGeom prst="ellipse">
            <a:avLst/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pic>
        <p:nvPicPr>
          <p:cNvPr id="11" name="Image 1" descr="Card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1805940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286000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workflow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2642616"/>
            <a:ext cx="3026664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one repeated operational flow. Use generic, non-confidential wording.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536192"/>
            <a:ext cx="3429000" cy="36118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39328" y="1719072"/>
            <a:ext cx="420624" cy="420624"/>
          </a:xfrm>
          <a:prstGeom prst="ellipse">
            <a:avLst/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pic>
        <p:nvPicPr>
          <p:cNvPr id="16" name="Image 2" descr="Signpos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196" y="1805940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9328" y="2286000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decision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39328" y="2642616"/>
            <a:ext cx="3026664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with one label, one next evidence action, and one named owner.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30352" y="5614416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1F4FF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13232" y="57332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6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1572768" y="5696712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where the current decision slows down, fragments, or disappears.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8284464" y="56967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4B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 decision-friction mark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4754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0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572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6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safest starting point is one repeated workflow with a visible handoff.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49808" y="1572768"/>
            <a:ext cx="6903720" cy="3419856"/>
          </a:xfrm>
          <a:prstGeom prst="roundRect">
            <a:avLst>
              <a:gd name="adj" fmla="val 2139"/>
            </a:avLst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1847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6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CARD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78992" y="2249424"/>
            <a:ext cx="6126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__________ happens,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 must __________,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that __________ can decide or hand off.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78992" y="3977640"/>
            <a:ext cx="5989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what happens today. Avoid “use AI for…” and avoid private names, system screenshots, or identifiable cases.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973568" y="1572768"/>
            <a:ext cx="345643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74736" y="1755648"/>
            <a:ext cx="420624" cy="420624"/>
          </a:xfrm>
          <a:prstGeom prst="ellipse">
            <a:avLst/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pic>
        <p:nvPicPr>
          <p:cNvPr id="10" name="Image 0" descr="CheckSquareOffse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1604" y="1842516"/>
            <a:ext cx="246888" cy="2468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174736" y="2322576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174736" y="2679192"/>
            <a:ext cx="3054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a weekly status summary for planner review.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973568" y="3319272"/>
            <a:ext cx="3456432" cy="1508760"/>
          </a:xfrm>
          <a:prstGeom prst="roundRect">
            <a:avLst>
              <a:gd name="adj" fmla="val 4848"/>
            </a:avLst>
          </a:prstGeom>
          <a:solidFill>
            <a:srgbClr val="FFF7FA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174736" y="3502152"/>
            <a:ext cx="420624" cy="420624"/>
          </a:xfrm>
          <a:prstGeom prst="ellipse">
            <a:avLst/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pic>
        <p:nvPicPr>
          <p:cNvPr id="15" name="Image 1" descr="XCircl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1604" y="3589020"/>
            <a:ext cx="246888" cy="2468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174736" y="4069080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vague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8174736" y="4425696"/>
            <a:ext cx="3054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operations with an AI agent.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30352" y="5614416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1F4FF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13232" y="57332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6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572768" y="5696712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sentence on one blue workflow card.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8284464" y="56967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4B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 candidate workflow card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4754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0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572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6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workflow is not ready until its start, stop, and exception path are explicit.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0120" y="3127248"/>
            <a:ext cx="9464040" cy="0"/>
          </a:xfrm>
          <a:prstGeom prst="line">
            <a:avLst/>
          </a:prstGeom>
          <a:noFill/>
          <a:ln w="63500">
            <a:solidFill>
              <a:srgbClr val="1F8BFF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21792" y="2148840"/>
            <a:ext cx="1572768" cy="18745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9576" y="2450592"/>
            <a:ext cx="457200" cy="457200"/>
          </a:xfrm>
          <a:prstGeom prst="ellipse">
            <a:avLst/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pic>
        <p:nvPicPr>
          <p:cNvPr id="7" name="Image 0" descr="Bell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6444" y="2537460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0664" y="315468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496312" y="2148840"/>
            <a:ext cx="1572768" cy="18745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54096" y="2450592"/>
            <a:ext cx="457200" cy="457200"/>
          </a:xfrm>
          <a:prstGeom prst="ellipse">
            <a:avLst/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pic>
        <p:nvPicPr>
          <p:cNvPr id="11" name="Image 1" descr="Databas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964" y="2537460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15184" y="315468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370832" y="2148840"/>
            <a:ext cx="1572768" cy="18745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928616" y="2450592"/>
            <a:ext cx="457200" cy="457200"/>
          </a:xfrm>
          <a:prstGeom prst="ellipse">
            <a:avLst/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pic>
        <p:nvPicPr>
          <p:cNvPr id="15" name="Image 2" descr="Robo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484" y="2537460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89704" y="315468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ROLE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245352" y="2148840"/>
            <a:ext cx="1572768" cy="1874520"/>
          </a:xfrm>
          <a:prstGeom prst="roundRect">
            <a:avLst>
              <a:gd name="adj" fmla="val 4651"/>
            </a:avLst>
          </a:prstGeom>
          <a:solidFill>
            <a:srgbClr val="E8EAFF"/>
          </a:solidFill>
          <a:ln w="12700">
            <a:solidFill>
              <a:srgbClr val="2F2FE4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803136" y="2450592"/>
            <a:ext cx="457200" cy="457200"/>
          </a:xfrm>
          <a:prstGeom prst="ellipse">
            <a:avLst/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pic>
        <p:nvPicPr>
          <p:cNvPr id="19" name="Image 3" descr="UserCircleChe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0004" y="2537460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64224" y="315468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GATE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8119872" y="2148840"/>
            <a:ext cx="1572768" cy="18745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677656" y="2450592"/>
            <a:ext cx="457200" cy="457200"/>
          </a:xfrm>
          <a:prstGeom prst="ellipse">
            <a:avLst/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pic>
        <p:nvPicPr>
          <p:cNvPr id="23" name="Image 4" descr="FileTex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4524" y="2537460"/>
            <a:ext cx="283464" cy="28346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238744" y="315468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994392" y="2148840"/>
            <a:ext cx="1572768" cy="18745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0552176" y="2450592"/>
            <a:ext cx="457200" cy="457200"/>
          </a:xfrm>
          <a:prstGeom prst="ellipse">
            <a:avLst/>
          </a:prstGeom>
          <a:solidFill>
            <a:srgbClr val="FFF7FA"/>
          </a:solidFill>
          <a:ln w="12700">
            <a:solidFill>
              <a:srgbClr val="FFF7FA"/>
            </a:solidFill>
            <a:prstDash val="solid"/>
          </a:ln>
        </p:spPr>
      </p:sp>
      <p:pic>
        <p:nvPicPr>
          <p:cNvPr id="27" name="Image 5" descr="StopCircle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39044" y="2537460"/>
            <a:ext cx="283464" cy="28346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0113264" y="315468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4736592" y="4315968"/>
            <a:ext cx="2697480" cy="420624"/>
          </a:xfrm>
          <a:prstGeom prst="rect">
            <a:avLst/>
          </a:prstGeom>
          <a:solidFill>
            <a:srgbClr val="B875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/ ESCALATION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6035040" y="4443984"/>
            <a:ext cx="969264" cy="-475488"/>
          </a:xfrm>
          <a:prstGeom prst="line">
            <a:avLst/>
          </a:prstGeom>
          <a:noFill/>
          <a:ln w="31750">
            <a:solidFill>
              <a:srgbClr val="B87512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530352" y="5614416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1F4FF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13232" y="57332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6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1572768" y="5696712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 string or arrows from trigger to stop; branch to the exception route.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8284464" y="56967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4B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 workflow boundary map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4754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0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572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6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consequential agent action needs one accountable decision owner.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554480"/>
            <a:ext cx="3749040" cy="3931920"/>
          </a:xfrm>
          <a:prstGeom prst="roundRect">
            <a:avLst>
              <a:gd name="adj" fmla="val 1951"/>
            </a:avLst>
          </a:prstGeom>
          <a:solidFill>
            <a:srgbClr val="080616"/>
          </a:solidFill>
          <a:ln w="12700">
            <a:solidFill>
              <a:srgbClr val="0806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48840" y="1938528"/>
            <a:ext cx="749808" cy="749808"/>
          </a:xfrm>
          <a:prstGeom prst="ellipse">
            <a:avLst/>
          </a:prstGeom>
          <a:solidFill>
            <a:srgbClr val="2F2FE4"/>
          </a:solidFill>
          <a:ln w="12700">
            <a:solidFill>
              <a:srgbClr val="2F2FE4"/>
            </a:solidFill>
            <a:prstDash val="solid"/>
          </a:ln>
        </p:spPr>
      </p:sp>
      <p:pic>
        <p:nvPicPr>
          <p:cNvPr id="6" name="Image 0" descr="Gavel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5708" y="2025396"/>
            <a:ext cx="576072" cy="5760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0704" y="2944368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OWNER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78992" y="3703320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7B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baton holder may confirm who owns, approves, or stops the decision.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828032" y="1572768"/>
            <a:ext cx="6629400" cy="749808"/>
          </a:xfrm>
          <a:prstGeom prst="roundRect">
            <a:avLst>
              <a:gd name="adj" fmla="val 9756"/>
            </a:avLst>
          </a:prstGeom>
          <a:solidFill>
            <a:srgbClr val="E8EAFF"/>
          </a:solidFill>
          <a:ln w="12700">
            <a:solidFill>
              <a:srgbClr val="2F2FE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74920" y="1719072"/>
            <a:ext cx="438912" cy="438912"/>
          </a:xfrm>
          <a:prstGeom prst="ellipse">
            <a:avLst/>
          </a:prstGeom>
          <a:solidFill>
            <a:srgbClr val="2F2FE4"/>
          </a:solidFill>
          <a:ln w="15240">
            <a:solidFill>
              <a:srgbClr val="2F2FE4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074920" y="1728216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5696712" y="169164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16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967728" y="1664208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carries the outcome?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828032" y="2514600"/>
            <a:ext cx="6629400" cy="749808"/>
          </a:xfrm>
          <a:prstGeom prst="roundRect">
            <a:avLst>
              <a:gd name="adj" fmla="val 9756"/>
            </a:avLst>
          </a:prstGeom>
          <a:solidFill>
            <a:srgbClr val="F6F7FB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74920" y="2660904"/>
            <a:ext cx="438912" cy="438912"/>
          </a:xfrm>
          <a:prstGeom prst="ellipse">
            <a:avLst/>
          </a:prstGeom>
          <a:solidFill>
            <a:srgbClr val="162E93"/>
          </a:solidFill>
          <a:ln w="15240">
            <a:solidFill>
              <a:srgbClr val="162E9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074920" y="267004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500" dirty="0"/>
          </a:p>
        </p:txBody>
      </p:sp>
      <p:sp>
        <p:nvSpPr>
          <p:cNvPr id="17" name="Text 14"/>
          <p:cNvSpPr/>
          <p:nvPr/>
        </p:nvSpPr>
        <p:spPr>
          <a:xfrm>
            <a:off x="5696712" y="2633472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16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967728" y="2606040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authorizes the action?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828032" y="3456432"/>
            <a:ext cx="6629400" cy="749808"/>
          </a:xfrm>
          <a:prstGeom prst="roundRect">
            <a:avLst>
              <a:gd name="adj" fmla="val 9756"/>
            </a:avLst>
          </a:prstGeom>
          <a:solidFill>
            <a:srgbClr val="F6F7FB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74920" y="3602736"/>
            <a:ext cx="438912" cy="438912"/>
          </a:xfrm>
          <a:prstGeom prst="ellipse">
            <a:avLst/>
          </a:prstGeom>
          <a:solidFill>
            <a:srgbClr val="162E93"/>
          </a:solidFill>
          <a:ln w="15240">
            <a:solidFill>
              <a:srgbClr val="162E9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074920" y="3611880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500" dirty="0"/>
          </a:p>
        </p:txBody>
      </p:sp>
      <p:sp>
        <p:nvSpPr>
          <p:cNvPr id="22" name="Text 19"/>
          <p:cNvSpPr/>
          <p:nvPr/>
        </p:nvSpPr>
        <p:spPr>
          <a:xfrm>
            <a:off x="5696712" y="3575304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16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967728" y="3547872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checks evidence in time?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4828032" y="4398264"/>
            <a:ext cx="6629400" cy="749808"/>
          </a:xfrm>
          <a:prstGeom prst="roundRect">
            <a:avLst>
              <a:gd name="adj" fmla="val 9756"/>
            </a:avLst>
          </a:prstGeom>
          <a:solidFill>
            <a:srgbClr val="F6F7FB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074920" y="4544568"/>
            <a:ext cx="438912" cy="438912"/>
          </a:xfrm>
          <a:prstGeom prst="ellipse">
            <a:avLst/>
          </a:prstGeom>
          <a:solidFill>
            <a:srgbClr val="162E93"/>
          </a:solidFill>
          <a:ln w="15240">
            <a:solidFill>
              <a:srgbClr val="162E9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074920" y="455371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500" dirty="0"/>
          </a:p>
        </p:txBody>
      </p:sp>
      <p:sp>
        <p:nvSpPr>
          <p:cNvPr id="27" name="Text 24"/>
          <p:cNvSpPr/>
          <p:nvPr/>
        </p:nvSpPr>
        <p:spPr>
          <a:xfrm>
            <a:off x="5696712" y="4517136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16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967728" y="4489704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can halt or override?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530352" y="5614416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1F4FF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13232" y="57332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6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572768" y="5696712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current owner, approver, reviewer, and stop authority.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8284464" y="56967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4B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 decision ownership map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4754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0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572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6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can operate only inside a declared permission envelope.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444752"/>
            <a:ext cx="3401568" cy="1572768"/>
          </a:xfrm>
          <a:prstGeom prst="roundRect">
            <a:avLst>
              <a:gd name="adj" fmla="val 4651"/>
            </a:avLst>
          </a:prstGeom>
          <a:solidFill>
            <a:srgbClr val="E8EAFF"/>
          </a:solidFill>
          <a:ln w="12700">
            <a:solidFill>
              <a:srgbClr val="162E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655064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6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11680" y="16184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approved inputs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2505456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7479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AUTHORITY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444752"/>
            <a:ext cx="3401568" cy="1572768"/>
          </a:xfrm>
          <a:prstGeom prst="roundRect">
            <a:avLst>
              <a:gd name="adj" fmla="val 4651"/>
            </a:avLst>
          </a:prstGeom>
          <a:solidFill>
            <a:srgbClr val="F1F4FF"/>
          </a:solidFill>
          <a:ln w="12700">
            <a:solidFill>
              <a:srgbClr val="2F2F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655064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2F2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42432" y="16184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for review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505456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7479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AUTHORITY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19872" y="1444752"/>
            <a:ext cx="340156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1F8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2752" y="1655064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F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473184" y="16184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 a priority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02752" y="2505456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7479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AUTHORITY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3300984"/>
            <a:ext cx="3401568" cy="1572768"/>
          </a:xfrm>
          <a:prstGeom prst="roundRect">
            <a:avLst>
              <a:gd name="adj" fmla="val 4651"/>
            </a:avLst>
          </a:prstGeom>
          <a:solidFill>
            <a:srgbClr val="FFF7E8"/>
          </a:solidFill>
          <a:ln w="12700">
            <a:solidFill>
              <a:srgbClr val="B875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511296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B87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11680" y="3474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a record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1248" y="4361688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7479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CONTROL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0" y="3300984"/>
            <a:ext cx="340156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7A6F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3511296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7A6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42432" y="3474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an exception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4361688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7479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19872" y="3300984"/>
            <a:ext cx="3401568" cy="1572768"/>
          </a:xfrm>
          <a:prstGeom prst="roundRect">
            <a:avLst>
              <a:gd name="adj" fmla="val 4651"/>
            </a:avLst>
          </a:prstGeom>
          <a:solidFill>
            <a:srgbClr val="FFF7FA"/>
          </a:solidFill>
          <a:ln w="12700">
            <a:solidFill>
              <a:srgbClr val="A64A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02752" y="3511296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A6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473184" y="3474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or approve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02752" y="4361688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7479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0352" y="5614416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1F4FF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57332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6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572768" y="5696712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each workflow step in exactly one authority lane.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84464" y="56967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4B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 allowed and forbidden actions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4754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0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572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6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is visible only when all seven dimensions have evidence and an owner.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2542032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82496"/>
            <a:ext cx="384048" cy="384048"/>
          </a:xfrm>
          <a:prstGeom prst="ellipse">
            <a:avLst/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pic>
        <p:nvPicPr>
          <p:cNvPr id="6" name="Image 0" descr="Targe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" y="1769364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07592" y="1664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32257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B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+ baseline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64992" y="1481328"/>
            <a:ext cx="2542032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47872" y="1682496"/>
            <a:ext cx="384048" cy="384048"/>
          </a:xfrm>
          <a:prstGeom prst="ellipse">
            <a:avLst/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pic>
        <p:nvPicPr>
          <p:cNvPr id="11" name="Image 1" descr="Path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40" y="1769364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78224" y="1664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47872" y="232257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B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+ stop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135624" y="1481328"/>
            <a:ext cx="2542032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18504" y="1682496"/>
            <a:ext cx="384048" cy="384048"/>
          </a:xfrm>
          <a:prstGeom prst="ellipse">
            <a:avLst/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pic>
        <p:nvPicPr>
          <p:cNvPr id="16" name="Image 2" descr="Databas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372" y="1769364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48856" y="1664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18504" y="232257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B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+ permission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906256" y="1481328"/>
            <a:ext cx="2542032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089136" y="1682496"/>
            <a:ext cx="384048" cy="384048"/>
          </a:xfrm>
          <a:prstGeom prst="ellipse">
            <a:avLst/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pic>
        <p:nvPicPr>
          <p:cNvPr id="21" name="Image 3" descr="SlidersHorizontal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6004" y="1769364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19488" y="1664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089136" y="232257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B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Allowed + forbidden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1979676" y="3456432"/>
            <a:ext cx="2542032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2162556" y="3657600"/>
            <a:ext cx="384048" cy="384048"/>
          </a:xfrm>
          <a:prstGeom prst="ellipse">
            <a:avLst/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pic>
        <p:nvPicPr>
          <p:cNvPr id="26" name="Image 4" descr="UserCircleCheck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9424" y="3744468"/>
            <a:ext cx="210312" cy="2103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692908" y="3639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2162556" y="4297680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B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+ timing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4750308" y="3456432"/>
            <a:ext cx="2542032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933188" y="3657600"/>
            <a:ext cx="384048" cy="384048"/>
          </a:xfrm>
          <a:prstGeom prst="ellipse">
            <a:avLst/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pic>
        <p:nvPicPr>
          <p:cNvPr id="31" name="Image 5" descr="WarningOctagon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0056" y="3744468"/>
            <a:ext cx="210312" cy="2103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63540" y="3639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4933188" y="4297680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B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+ fallback</a:t>
            </a:r>
            <a:endParaRPr lang="en-US" sz="1250" dirty="0"/>
          </a:p>
        </p:txBody>
      </p:sp>
      <p:sp>
        <p:nvSpPr>
          <p:cNvPr id="34" name="Shape 26"/>
          <p:cNvSpPr/>
          <p:nvPr/>
        </p:nvSpPr>
        <p:spPr>
          <a:xfrm>
            <a:off x="7520940" y="3456432"/>
            <a:ext cx="2542032" cy="1591056"/>
          </a:xfrm>
          <a:prstGeom prst="roundRect">
            <a:avLst>
              <a:gd name="adj" fmla="val 4598"/>
            </a:avLst>
          </a:prstGeom>
          <a:solidFill>
            <a:srgbClr val="FFF7E8"/>
          </a:solidFill>
          <a:ln w="12700">
            <a:solidFill>
              <a:srgbClr val="B87512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7703820" y="3657600"/>
            <a:ext cx="384048" cy="384048"/>
          </a:xfrm>
          <a:prstGeom prst="ellipse">
            <a:avLst/>
          </a:prstGeom>
          <a:solidFill>
            <a:srgbClr val="FFF7E8"/>
          </a:solidFill>
          <a:ln w="12700">
            <a:solidFill>
              <a:srgbClr val="FFF7E8"/>
            </a:solidFill>
            <a:prstDash val="solid"/>
          </a:ln>
        </p:spPr>
      </p:sp>
      <p:pic>
        <p:nvPicPr>
          <p:cNvPr id="36" name="Image 6" descr="ShieldCheck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0688" y="3744468"/>
            <a:ext cx="210312" cy="21031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234172" y="3639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38" name="Text 29"/>
          <p:cNvSpPr/>
          <p:nvPr/>
        </p:nvSpPr>
        <p:spPr>
          <a:xfrm>
            <a:off x="7703820" y="4297680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B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+ change owner</a:t>
            </a:r>
            <a:endParaRPr lang="en-US" sz="1250" dirty="0"/>
          </a:p>
        </p:txBody>
      </p:sp>
      <p:sp>
        <p:nvSpPr>
          <p:cNvPr id="39" name="Shape 30"/>
          <p:cNvSpPr/>
          <p:nvPr/>
        </p:nvSpPr>
        <p:spPr>
          <a:xfrm>
            <a:off x="530352" y="5614416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1F4FF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713232" y="57332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6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</a:t>
            </a:r>
            <a:endParaRPr lang="en-US" sz="1100" dirty="0"/>
          </a:p>
        </p:txBody>
      </p:sp>
      <p:sp>
        <p:nvSpPr>
          <p:cNvPr id="41" name="Text 32"/>
          <p:cNvSpPr/>
          <p:nvPr/>
        </p:nvSpPr>
        <p:spPr>
          <a:xfrm>
            <a:off x="1572768" y="5696712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a named evidence card and owner beside each dimension.</a:t>
            </a:r>
            <a:endParaRPr lang="en-US" sz="1300" dirty="0"/>
          </a:p>
        </p:txBody>
      </p:sp>
      <p:sp>
        <p:nvSpPr>
          <p:cNvPr id="42" name="Text 33"/>
          <p:cNvSpPr/>
          <p:nvPr/>
        </p:nvSpPr>
        <p:spPr>
          <a:xfrm>
            <a:off x="8284464" y="56967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4B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 seven-dimension canvas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4754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0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572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6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what is on the table: no evidence means zero.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27632"/>
            <a:ext cx="3401568" cy="3401568"/>
          </a:xfrm>
          <a:prstGeom prst="roundRect">
            <a:avLst>
              <a:gd name="adj" fmla="val 2151"/>
            </a:avLst>
          </a:prstGeom>
          <a:solidFill>
            <a:srgbClr val="F6F7FB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20824" y="1920240"/>
            <a:ext cx="1005840" cy="1005840"/>
          </a:xfrm>
          <a:prstGeom prst="ellipse">
            <a:avLst/>
          </a:prstGeom>
          <a:solidFill>
            <a:srgbClr val="080616"/>
          </a:solidFill>
          <a:ln w="15240">
            <a:solidFill>
              <a:srgbClr val="080616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20824" y="1929384"/>
            <a:ext cx="1005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097280" y="3255264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60" kern="0" dirty="0">
                <a:solidFill>
                  <a:srgbClr val="080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EVIDENCE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3867912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safe to proceed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36008" y="1627632"/>
            <a:ext cx="3401568" cy="3401568"/>
          </a:xfrm>
          <a:prstGeom prst="roundRect">
            <a:avLst>
              <a:gd name="adj" fmla="val 2151"/>
            </a:avLst>
          </a:prstGeom>
          <a:solidFill>
            <a:srgbClr val="F6F7FB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33872" y="1920240"/>
            <a:ext cx="1005840" cy="1005840"/>
          </a:xfrm>
          <a:prstGeom prst="ellipse">
            <a:avLst/>
          </a:prstGeom>
          <a:solidFill>
            <a:srgbClr val="B87512"/>
          </a:solidFill>
          <a:ln w="15240">
            <a:solidFill>
              <a:srgbClr val="B87512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33872" y="1929384"/>
            <a:ext cx="1005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4910328" y="3255264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60" kern="0" dirty="0">
                <a:solidFill>
                  <a:srgbClr val="B87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EVIDENCE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47488" y="3867912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 exposed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449056" y="1627632"/>
            <a:ext cx="3401568" cy="3401568"/>
          </a:xfrm>
          <a:prstGeom prst="roundRect">
            <a:avLst>
              <a:gd name="adj" fmla="val 2151"/>
            </a:avLst>
          </a:prstGeom>
          <a:solidFill>
            <a:srgbClr val="E8EAFF"/>
          </a:solidFill>
          <a:ln w="12700">
            <a:solidFill>
              <a:srgbClr val="2F2F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46920" y="1920240"/>
            <a:ext cx="1005840" cy="1005840"/>
          </a:xfrm>
          <a:prstGeom prst="ellipse">
            <a:avLst/>
          </a:prstGeom>
          <a:solidFill>
            <a:srgbClr val="2F2FE4"/>
          </a:solidFill>
          <a:ln w="15240">
            <a:solidFill>
              <a:srgbClr val="2F2FE4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46920" y="1929384"/>
            <a:ext cx="1005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8723376" y="3255264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60" kern="0" dirty="0">
                <a:solidFill>
                  <a:srgbClr val="2F2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EVIDENCE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860536" y="3867912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accepts it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965960" y="5230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6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blocker caps the dimension at 1. “No owner” or “no evidence” means ZERO.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0352" y="5614416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1F4FF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57332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6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72768" y="5696712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one 0 / 1 / 2 token on every dimension.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84464" y="56967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4B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 evidence-backed score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4754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0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572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6F7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hard blocker can stop the pilot, even when the total looks attractive.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536192"/>
            <a:ext cx="3401568" cy="1133856"/>
          </a:xfrm>
          <a:prstGeom prst="roundRect">
            <a:avLst>
              <a:gd name="adj" fmla="val 6452"/>
            </a:avLst>
          </a:prstGeom>
          <a:solidFill>
            <a:srgbClr val="12102B"/>
          </a:solidFill>
          <a:ln w="12700">
            <a:solidFill>
              <a:srgbClr val="A64A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837944"/>
            <a:ext cx="475488" cy="475488"/>
          </a:xfrm>
          <a:prstGeom prst="ellipse">
            <a:avLst/>
          </a:prstGeom>
          <a:solidFill>
            <a:srgbClr val="2B1321"/>
          </a:solidFill>
          <a:ln w="12700">
            <a:solidFill>
              <a:srgbClr val="2B1321"/>
            </a:solidFill>
            <a:prstDash val="solid"/>
          </a:ln>
        </p:spPr>
      </p:sp>
      <p:pic>
        <p:nvPicPr>
          <p:cNvPr id="6" name="Image 0" descr="UserMinu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924812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17904" y="1819656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OWNER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434840" y="1536192"/>
            <a:ext cx="3401568" cy="1133856"/>
          </a:xfrm>
          <a:prstGeom prst="roundRect">
            <a:avLst>
              <a:gd name="adj" fmla="val 6452"/>
            </a:avLst>
          </a:prstGeom>
          <a:solidFill>
            <a:srgbClr val="12102B"/>
          </a:solidFill>
          <a:ln w="12700">
            <a:solidFill>
              <a:srgbClr val="A64A6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54296" y="1837944"/>
            <a:ext cx="475488" cy="475488"/>
          </a:xfrm>
          <a:prstGeom prst="ellipse">
            <a:avLst/>
          </a:prstGeom>
          <a:solidFill>
            <a:srgbClr val="2B1321"/>
          </a:solidFill>
          <a:ln w="12700">
            <a:solidFill>
              <a:srgbClr val="2B1321"/>
            </a:solidFill>
            <a:prstDash val="solid"/>
          </a:ln>
        </p:spPr>
      </p:sp>
      <p:pic>
        <p:nvPicPr>
          <p:cNvPr id="10" name="Image 1" descr="UserCircleMinu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164" y="1924812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94376" y="1819656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HUMAN GATE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211312" y="1536192"/>
            <a:ext cx="3401568" cy="1133856"/>
          </a:xfrm>
          <a:prstGeom prst="roundRect">
            <a:avLst>
              <a:gd name="adj" fmla="val 6452"/>
            </a:avLst>
          </a:prstGeom>
          <a:solidFill>
            <a:srgbClr val="12102B"/>
          </a:solidFill>
          <a:ln w="12700">
            <a:solidFill>
              <a:srgbClr val="162E9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430768" y="1837944"/>
            <a:ext cx="475488" cy="475488"/>
          </a:xfrm>
          <a:prstGeom prst="ellipse">
            <a:avLst/>
          </a:prstGeom>
          <a:solidFill>
            <a:srgbClr val="1A1953"/>
          </a:solidFill>
          <a:ln w="12700">
            <a:solidFill>
              <a:srgbClr val="1A1953"/>
            </a:solidFill>
            <a:prstDash val="solid"/>
          </a:ln>
        </p:spPr>
      </p:sp>
      <p:pic>
        <p:nvPicPr>
          <p:cNvPr id="14" name="Image 2" descr="LockKey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636" y="1924812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070848" y="1819656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UNCLEAR DATA USE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58368" y="2980944"/>
            <a:ext cx="3401568" cy="1133856"/>
          </a:xfrm>
          <a:prstGeom prst="roundRect">
            <a:avLst>
              <a:gd name="adj" fmla="val 6452"/>
            </a:avLst>
          </a:prstGeom>
          <a:solidFill>
            <a:srgbClr val="12102B"/>
          </a:solidFill>
          <a:ln w="12700">
            <a:solidFill>
              <a:srgbClr val="162E9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77824" y="3282696"/>
            <a:ext cx="475488" cy="475488"/>
          </a:xfrm>
          <a:prstGeom prst="ellipse">
            <a:avLst/>
          </a:prstGeom>
          <a:solidFill>
            <a:srgbClr val="1A1953"/>
          </a:solidFill>
          <a:ln w="12700">
            <a:solidFill>
              <a:srgbClr val="1A1953"/>
            </a:solidFill>
            <a:prstDash val="solid"/>
          </a:ln>
        </p:spPr>
      </p:sp>
      <p:pic>
        <p:nvPicPr>
          <p:cNvPr id="18" name="Image 3" descr="EyeSlash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3369564"/>
            <a:ext cx="301752" cy="3017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17904" y="326440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FAILURE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434840" y="2980944"/>
            <a:ext cx="3401568" cy="1133856"/>
          </a:xfrm>
          <a:prstGeom prst="roundRect">
            <a:avLst>
              <a:gd name="adj" fmla="val 6452"/>
            </a:avLst>
          </a:prstGeom>
          <a:solidFill>
            <a:srgbClr val="12102B"/>
          </a:solidFill>
          <a:ln w="12700">
            <a:solidFill>
              <a:srgbClr val="162E93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654296" y="3282696"/>
            <a:ext cx="475488" cy="475488"/>
          </a:xfrm>
          <a:prstGeom prst="ellipse">
            <a:avLst/>
          </a:prstGeom>
          <a:solidFill>
            <a:srgbClr val="1A1953"/>
          </a:solidFill>
          <a:ln w="12700">
            <a:solidFill>
              <a:srgbClr val="1A1953"/>
            </a:solidFill>
            <a:prstDash val="solid"/>
          </a:ln>
        </p:spPr>
      </p:sp>
      <p:pic>
        <p:nvPicPr>
          <p:cNvPr id="22" name="Image 4" descr="WarningOctagon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1164" y="3369564"/>
            <a:ext cx="301752" cy="30175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94376" y="326440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AUTHORITY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8211312" y="2980944"/>
            <a:ext cx="3401568" cy="1133856"/>
          </a:xfrm>
          <a:prstGeom prst="roundRect">
            <a:avLst>
              <a:gd name="adj" fmla="val 6452"/>
            </a:avLst>
          </a:prstGeom>
          <a:solidFill>
            <a:srgbClr val="12102B"/>
          </a:solidFill>
          <a:ln w="12700">
            <a:solidFill>
              <a:srgbClr val="162E93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8430768" y="3282696"/>
            <a:ext cx="475488" cy="475488"/>
          </a:xfrm>
          <a:prstGeom prst="ellipse">
            <a:avLst/>
          </a:prstGeom>
          <a:solidFill>
            <a:srgbClr val="1A1953"/>
          </a:solidFill>
          <a:ln w="12700">
            <a:solidFill>
              <a:srgbClr val="1A1953"/>
            </a:solidFill>
            <a:prstDash val="solid"/>
          </a:ln>
        </p:spPr>
      </p:sp>
      <p:pic>
        <p:nvPicPr>
          <p:cNvPr id="26" name="Image 5" descr="ShieldWarning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7636" y="3369564"/>
            <a:ext cx="301752" cy="30175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070848" y="326440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IRREVERSIBLE HARM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3611880" y="4645152"/>
            <a:ext cx="4983480" cy="640080"/>
          </a:xfrm>
          <a:prstGeom prst="roundRect">
            <a:avLst>
              <a:gd name="adj" fmla="val 11429"/>
            </a:avLst>
          </a:prstGeom>
          <a:solidFill>
            <a:srgbClr val="A64A6A"/>
          </a:solidFill>
          <a:ln w="12700">
            <a:solidFill>
              <a:srgbClr val="A64A6A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3794760" y="480974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7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 ·  RESOLVE THE MISSING CONTROL FIRST</a:t>
            </a:r>
            <a:endParaRPr lang="en-US" sz="1400" dirty="0"/>
          </a:p>
        </p:txBody>
      </p:sp>
      <p:sp>
        <p:nvSpPr>
          <p:cNvPr id="30" name="Shape 22"/>
          <p:cNvSpPr/>
          <p:nvPr/>
        </p:nvSpPr>
        <p:spPr>
          <a:xfrm>
            <a:off x="530352" y="5614416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12102B"/>
          </a:solidFill>
          <a:ln w="12700">
            <a:solidFill>
              <a:srgbClr val="162E93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713232" y="57332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F7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1572768" y="5696712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participant may place the Stop Card on a critical blocker.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284464" y="56967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7B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 hard-blocker record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4754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7BCD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572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6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agent is confidently wrong, the design must still make the failure visible.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27632"/>
            <a:ext cx="2578608" cy="3611880"/>
          </a:xfrm>
          <a:prstGeom prst="roundRect">
            <a:avLst>
              <a:gd name="adj" fmla="val 2837"/>
            </a:avLst>
          </a:prstGeom>
          <a:solidFill>
            <a:srgbClr val="FFF7FA"/>
          </a:solidFill>
          <a:ln w="12700">
            <a:solidFill>
              <a:srgbClr val="A64A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1847088"/>
            <a:ext cx="502920" cy="502920"/>
          </a:xfrm>
          <a:prstGeom prst="ellipse">
            <a:avLst/>
          </a:prstGeom>
          <a:solidFill>
            <a:srgbClr val="A64A6A"/>
          </a:solidFill>
          <a:ln w="15240">
            <a:solidFill>
              <a:srgbClr val="A64A6A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9536" y="1856232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517904" y="1901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2907792"/>
            <a:ext cx="21762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B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one plausible wrong, stale, missing, or late output.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511296" y="1627632"/>
            <a:ext cx="2578608" cy="361188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12464" y="1847088"/>
            <a:ext cx="502920" cy="502920"/>
          </a:xfrm>
          <a:prstGeom prst="ellipse">
            <a:avLst/>
          </a:prstGeom>
          <a:solidFill>
            <a:srgbClr val="2F2FE4"/>
          </a:solidFill>
          <a:ln w="15240">
            <a:solidFill>
              <a:srgbClr val="2F2FE4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12464" y="1856232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4370832" y="1901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12464" y="2907792"/>
            <a:ext cx="21762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B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who sees the problem first and what signal they receive.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64224" y="1627632"/>
            <a:ext cx="2578608" cy="3611880"/>
          </a:xfrm>
          <a:prstGeom prst="roundRect">
            <a:avLst>
              <a:gd name="adj" fmla="val 2837"/>
            </a:avLst>
          </a:prstGeom>
          <a:solidFill>
            <a:srgbClr val="FFF7E8"/>
          </a:solidFill>
          <a:ln w="12700">
            <a:solidFill>
              <a:srgbClr val="B8751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65392" y="1847088"/>
            <a:ext cx="502920" cy="502920"/>
          </a:xfrm>
          <a:prstGeom prst="ellipse">
            <a:avLst/>
          </a:prstGeom>
          <a:solidFill>
            <a:srgbClr val="B87512"/>
          </a:solidFill>
          <a:ln w="15240">
            <a:solidFill>
              <a:srgbClr val="B87512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65392" y="1856232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223760" y="1901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 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65392" y="2907792"/>
            <a:ext cx="21762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B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the exact point where the workflow pauses or escalates.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217152" y="1627632"/>
            <a:ext cx="2578608" cy="361188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18320" y="1847088"/>
            <a:ext cx="502920" cy="502920"/>
          </a:xfrm>
          <a:prstGeom prst="ellipse">
            <a:avLst/>
          </a:prstGeom>
          <a:solidFill>
            <a:srgbClr val="2F2FE4"/>
          </a:solidFill>
          <a:ln w="15240">
            <a:solidFill>
              <a:srgbClr val="2F2FE4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418320" y="1856232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10076688" y="1901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418320" y="2907792"/>
            <a:ext cx="21762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B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manual fallback and the evidence retained.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30352" y="5614416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1F4FF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57332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6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572768" y="5696712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one failure from wrong output to visible recovery.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84464" y="56967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4B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 failure and fallback chain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4754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0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572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6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 belongs where judgment changes the consequence, not everywhere.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2578608" cy="365760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1911096"/>
            <a:ext cx="502920" cy="502920"/>
          </a:xfrm>
          <a:prstGeom prst="ellipse">
            <a:avLst/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pic>
        <p:nvPicPr>
          <p:cNvPr id="6" name="Image 0" descr="EyeClose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7652" y="1997964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9536" y="278892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479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REVIEW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50976" y="3429000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Reversible, low-risk preparation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511296" y="1572768"/>
            <a:ext cx="2578608" cy="365760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53712" y="1911096"/>
            <a:ext cx="502920" cy="502920"/>
          </a:xfrm>
          <a:prstGeom prst="ellipse">
            <a:avLst/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pic>
        <p:nvPicPr>
          <p:cNvPr id="11" name="Image 1" descr="Ey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580" y="1997964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12464" y="278892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803904" y="3429000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trend and drift check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64224" y="1572768"/>
            <a:ext cx="2578608" cy="3657600"/>
          </a:xfrm>
          <a:prstGeom prst="roundRect">
            <a:avLst>
              <a:gd name="adj" fmla="val 2837"/>
            </a:avLst>
          </a:prstGeom>
          <a:solidFill>
            <a:srgbClr val="E8EAFF"/>
          </a:solidFill>
          <a:ln w="12700">
            <a:solidFill>
              <a:srgbClr val="2F2FE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06640" y="1911096"/>
            <a:ext cx="502920" cy="502920"/>
          </a:xfrm>
          <a:prstGeom prst="ellipse">
            <a:avLst/>
          </a:prstGeom>
          <a:solidFill>
            <a:srgbClr val="E8EAFF"/>
          </a:solidFill>
          <a:ln w="12700">
            <a:solidFill>
              <a:srgbClr val="E8EAFF"/>
            </a:solidFill>
            <a:prstDash val="solid"/>
          </a:ln>
        </p:spPr>
      </p:sp>
      <p:pic>
        <p:nvPicPr>
          <p:cNvPr id="16" name="Image 2" descr="UserCircleChe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508" y="199796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65392" y="278892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2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PRE-ACTION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656832" y="3429000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before consequential action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9217152" y="1572768"/>
            <a:ext cx="2578608" cy="3657600"/>
          </a:xfrm>
          <a:prstGeom prst="roundRect">
            <a:avLst>
              <a:gd name="adj" fmla="val 2837"/>
            </a:avLst>
          </a:prstGeom>
          <a:solidFill>
            <a:srgbClr val="FFF7E8"/>
          </a:solidFill>
          <a:ln w="12700">
            <a:solidFill>
              <a:srgbClr val="B8751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259568" y="1911096"/>
            <a:ext cx="502920" cy="502920"/>
          </a:xfrm>
          <a:prstGeom prst="ellipse">
            <a:avLst/>
          </a:prstGeom>
          <a:solidFill>
            <a:srgbClr val="FFF7E8"/>
          </a:solidFill>
          <a:ln w="12700">
            <a:solidFill>
              <a:srgbClr val="FFF7E8"/>
            </a:solidFill>
            <a:prstDash val="solid"/>
          </a:ln>
        </p:spPr>
      </p:sp>
      <p:pic>
        <p:nvPicPr>
          <p:cNvPr id="21" name="Image 3" descr="SealChe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6436" y="199796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18320" y="278892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7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509760" y="3429000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Regulated, safety, quality, legal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530352" y="5614416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1F4FF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13232" y="57332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6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1572768" y="5696712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each decision into one review mode and name the reviewer role.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284464" y="56967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4B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 human review matrix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4754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0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572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6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must name who changes, monitors, audits, and retires the workflow.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2816352"/>
            <a:ext cx="9966960" cy="0"/>
          </a:xfrm>
          <a:prstGeom prst="line">
            <a:avLst/>
          </a:prstGeom>
          <a:noFill/>
          <a:ln w="127000">
            <a:solidFill>
              <a:srgbClr val="E8EAFF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371600" y="2359152"/>
            <a:ext cx="658368" cy="658368"/>
          </a:xfrm>
          <a:prstGeom prst="ellipse">
            <a:avLst/>
          </a:prstGeom>
          <a:solidFill>
            <a:srgbClr val="2F2FE4"/>
          </a:solidFill>
          <a:ln w="15240">
            <a:solidFill>
              <a:srgbClr val="2F2FE4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2368296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96112" y="3355848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7824" y="3895344"/>
            <a:ext cx="1645920" cy="402336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39684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479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27632" y="395020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11880" y="2359152"/>
            <a:ext cx="658368" cy="658368"/>
          </a:xfrm>
          <a:prstGeom prst="ellipse">
            <a:avLst/>
          </a:prstGeom>
          <a:solidFill>
            <a:srgbClr val="2F2FE4"/>
          </a:solidFill>
          <a:ln w="15240">
            <a:solidFill>
              <a:srgbClr val="2F2FE4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11880" y="2368296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3136392" y="3355848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118104" y="3895344"/>
            <a:ext cx="1645920" cy="402336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91256" y="39684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479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67912" y="395020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852160" y="2359152"/>
            <a:ext cx="658368" cy="658368"/>
          </a:xfrm>
          <a:prstGeom prst="ellipse">
            <a:avLst/>
          </a:prstGeom>
          <a:solidFill>
            <a:srgbClr val="2F2FE4"/>
          </a:solidFill>
          <a:ln w="15240">
            <a:solidFill>
              <a:srgbClr val="2F2FE4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852160" y="2368296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5376672" y="3355848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58384" y="3895344"/>
            <a:ext cx="1645920" cy="402336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31536" y="39684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479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08192" y="395020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92440" y="2359152"/>
            <a:ext cx="658368" cy="658368"/>
          </a:xfrm>
          <a:prstGeom prst="ellipse">
            <a:avLst/>
          </a:prstGeom>
          <a:solidFill>
            <a:srgbClr val="2F2FE4"/>
          </a:solidFill>
          <a:ln w="15240">
            <a:solidFill>
              <a:srgbClr val="2F2FE4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092440" y="2368296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616952" y="3355848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598664" y="3895344"/>
            <a:ext cx="1645920" cy="402336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71816" y="39684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479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48472" y="395020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332720" y="2359152"/>
            <a:ext cx="658368" cy="658368"/>
          </a:xfrm>
          <a:prstGeom prst="ellipse">
            <a:avLst/>
          </a:prstGeom>
          <a:solidFill>
            <a:srgbClr val="7A6FF0"/>
          </a:solidFill>
          <a:ln w="15240">
            <a:solidFill>
              <a:srgbClr val="7A6FF0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332720" y="2368296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9857232" y="3355848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838944" y="3895344"/>
            <a:ext cx="1645920" cy="402336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12096" y="39684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479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588752" y="395020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084832" y="4681728"/>
            <a:ext cx="8028432" cy="566928"/>
          </a:xfrm>
          <a:prstGeom prst="roundRect">
            <a:avLst>
              <a:gd name="adj" fmla="val 12903"/>
            </a:avLst>
          </a:prstGeom>
          <a:solidFill>
            <a:srgbClr val="FFF7E8"/>
          </a:solidFill>
          <a:ln w="12700">
            <a:solidFill>
              <a:srgbClr val="B8751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59152" y="4846320"/>
            <a:ext cx="7479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starts before the pilot and continues after the process changes.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30352" y="5614416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1F4FF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57332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6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572768" y="5696712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one role to each lifecycle responsibility.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284464" y="56967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4B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 governance responsibility strip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4754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0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572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6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is decided by blockers and controls, not by an average score alone.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6995160" cy="813816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2700">
            <a:solidFill>
              <a:srgbClr val="0806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6184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0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47088" y="160934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READY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93008" y="1591056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Clarify process, data, owner, and controls.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58368" y="2441448"/>
            <a:ext cx="6995160" cy="813816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2700">
            <a:solidFill>
              <a:srgbClr val="B875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64261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7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6–9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47088" y="26334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ONLY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93008" y="2615184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and control gaps remain.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8368" y="3465576"/>
            <a:ext cx="6995160" cy="813816"/>
          </a:xfrm>
          <a:prstGeom prst="roundRect">
            <a:avLst>
              <a:gd name="adj" fmla="val 8989"/>
            </a:avLst>
          </a:prstGeom>
          <a:solidFill>
            <a:srgbClr val="E8EAFF"/>
          </a:solidFill>
          <a:ln w="12700">
            <a:solidFill>
              <a:srgbClr val="2F2F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66674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47088" y="3657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CONTAINED PILOT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93008" y="363931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scope, human gate, visible failures.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8368" y="4489704"/>
            <a:ext cx="6995160" cy="813816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2700">
            <a:solidFill>
              <a:srgbClr val="2F2F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9087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2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13–14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47088" y="46817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PILOT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93008" y="466344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pilot signal, not production approval.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028432" y="1417320"/>
            <a:ext cx="3429000" cy="3886200"/>
          </a:xfrm>
          <a:prstGeom prst="roundRect">
            <a:avLst>
              <a:gd name="adj" fmla="val 2133"/>
            </a:avLst>
          </a:prstGeom>
          <a:solidFill>
            <a:srgbClr val="080616"/>
          </a:solidFill>
          <a:ln w="12700">
            <a:solidFill>
              <a:srgbClr val="0806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75904" y="181051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OVERRIDES SCORE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30768" y="2670048"/>
            <a:ext cx="261518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zero in scope, review, failure visibility, or governance blocks a pilot.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476488" y="43159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7B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low score is useful when it prevents a weak pilot.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30352" y="5614416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1F4FF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57332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6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572768" y="5696712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the workflow card in one lane; apply blocker rules first.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84464" y="56967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4B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 readiness decision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4754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0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572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6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boring coordination workflow becomes useful when the agent drafts and the planner owns.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3898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6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EXAMPLE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13969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INPUTS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852928"/>
            <a:ext cx="1911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B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fields + documents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45536" y="2514600"/>
            <a:ext cx="292608" cy="502920"/>
          </a:xfrm>
          <a:prstGeom prst="chevron">
            <a:avLst/>
          </a:prstGeom>
          <a:solidFill>
            <a:srgbClr val="6F76F4"/>
          </a:solidFill>
          <a:ln w="12700">
            <a:solidFill>
              <a:srgbClr val="6F76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02152" y="1847088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85032" y="213969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58184" y="2852928"/>
            <a:ext cx="1911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B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+ flag gaps + draft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89320" y="2514600"/>
            <a:ext cx="292608" cy="502920"/>
          </a:xfrm>
          <a:prstGeom prst="chevron">
            <a:avLst/>
          </a:prstGeom>
          <a:solidFill>
            <a:srgbClr val="6F76F4"/>
          </a:solidFill>
          <a:ln w="12700">
            <a:solidFill>
              <a:srgbClr val="6F76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45936" y="1847088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E8EAFF"/>
          </a:solidFill>
          <a:ln w="12700">
            <a:solidFill>
              <a:srgbClr val="2F2F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28816" y="213969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2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01968" y="2852928"/>
            <a:ext cx="1911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B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+ edit + approve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33104" y="2514600"/>
            <a:ext cx="292608" cy="502920"/>
          </a:xfrm>
          <a:prstGeom prst="chevron">
            <a:avLst/>
          </a:prstGeom>
          <a:solidFill>
            <a:srgbClr val="6F76F4"/>
          </a:solidFill>
          <a:ln w="12700">
            <a:solidFill>
              <a:srgbClr val="6F76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89720" y="1847088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72600" y="213969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45752" y="2852928"/>
            <a:ext cx="1911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B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Human-approved status summary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8368" y="4160520"/>
            <a:ext cx="5230368" cy="822960"/>
          </a:xfrm>
          <a:prstGeom prst="roundRect">
            <a:avLst>
              <a:gd name="adj" fmla="val 8889"/>
            </a:avLst>
          </a:prstGeom>
          <a:solidFill>
            <a:srgbClr val="FFF7E8"/>
          </a:solidFill>
          <a:ln w="12700">
            <a:solidFill>
              <a:srgbClr val="B875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441655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NOT: approve, commit, or contact outside parties.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36208" y="4160520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F1F4FF"/>
          </a:solidFill>
          <a:ln w="12700">
            <a:solidFill>
              <a:srgbClr val="2F2F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0528" y="4315968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FAILURES: missing input, stale source, conflicting status.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0352" y="5614416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F1F4FF"/>
          </a:solidFill>
          <a:ln w="12700">
            <a:solidFill>
              <a:srgbClr val="DDE2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57332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62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572768" y="5696712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the example, then transfer only the structure to your case.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84464" y="56967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4B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 worked readiness pattern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4754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0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572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6F7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with one label, one evidence action, and one named owner.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13232" y="1554480"/>
            <a:ext cx="3401568" cy="3337560"/>
          </a:xfrm>
          <a:prstGeom prst="roundRect">
            <a:avLst>
              <a:gd name="adj" fmla="val 2192"/>
            </a:avLst>
          </a:prstGeom>
          <a:solidFill>
            <a:srgbClr val="12102B"/>
          </a:solidFill>
          <a:ln w="12700">
            <a:solidFill>
              <a:srgbClr val="162E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39112" y="1847088"/>
            <a:ext cx="713232" cy="713232"/>
          </a:xfrm>
          <a:prstGeom prst="ellipse">
            <a:avLst/>
          </a:prstGeom>
          <a:solidFill>
            <a:srgbClr val="7A6FF0"/>
          </a:solidFill>
          <a:ln w="15240">
            <a:solidFill>
              <a:srgbClr val="7A6FF0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39112" y="1856232"/>
            <a:ext cx="7132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033272" y="2852928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70" kern="0" dirty="0">
                <a:solidFill>
                  <a:srgbClr val="6F7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60704" y="3520440"/>
            <a:ext cx="2706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ready · Discovery · Contained · Controlled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80560" y="1554480"/>
            <a:ext cx="3401568" cy="3337560"/>
          </a:xfrm>
          <a:prstGeom prst="roundRect">
            <a:avLst>
              <a:gd name="adj" fmla="val 2192"/>
            </a:avLst>
          </a:prstGeom>
          <a:solidFill>
            <a:srgbClr val="12102B"/>
          </a:solidFill>
          <a:ln w="12700">
            <a:solidFill>
              <a:srgbClr val="2F2F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06440" y="1847088"/>
            <a:ext cx="713232" cy="713232"/>
          </a:xfrm>
          <a:prstGeom prst="ellipse">
            <a:avLst/>
          </a:prstGeom>
          <a:solidFill>
            <a:srgbClr val="2F2FE4"/>
          </a:solidFill>
          <a:ln w="15240">
            <a:solidFill>
              <a:srgbClr val="2F2FE4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06440" y="1856232"/>
            <a:ext cx="7132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4800600" y="2852928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70" kern="0" dirty="0">
                <a:solidFill>
                  <a:srgbClr val="6F7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28032" y="3520440"/>
            <a:ext cx="2706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task that produces the missing evidence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47888" y="1554480"/>
            <a:ext cx="3401568" cy="3337560"/>
          </a:xfrm>
          <a:prstGeom prst="roundRect">
            <a:avLst>
              <a:gd name="adj" fmla="val 2192"/>
            </a:avLst>
          </a:prstGeom>
          <a:solidFill>
            <a:srgbClr val="12102B"/>
          </a:solidFill>
          <a:ln w="12700">
            <a:solidFill>
              <a:srgbClr val="162E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73768" y="1847088"/>
            <a:ext cx="713232" cy="713232"/>
          </a:xfrm>
          <a:prstGeom prst="ellipse">
            <a:avLst/>
          </a:prstGeom>
          <a:solidFill>
            <a:srgbClr val="7A6FF0"/>
          </a:solidFill>
          <a:ln w="15240">
            <a:solidFill>
              <a:srgbClr val="7A6FF0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573768" y="1856232"/>
            <a:ext cx="7132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8567928" y="2852928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70" kern="0" dirty="0">
                <a:solidFill>
                  <a:srgbClr val="6F7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95360" y="3520440"/>
            <a:ext cx="2706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accountable role for the next decision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9808" y="526694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7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canvas</a:t>
            </a:r>
            <a:endParaRPr lang="en-US" sz="1100" dirty="0"/>
          </a:p>
        </p:txBody>
      </p:sp>
      <p:sp>
        <p:nvSpPr>
          <p:cNvPr id="20" name="Text 18">
            <a:hlinkClick r:id="rId1" tooltip=""/>
          </p:cNvPr>
          <p:cNvSpPr/>
          <p:nvPr/>
        </p:nvSpPr>
        <p:spPr>
          <a:xfrm>
            <a:off x="2084832" y="52303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kienlef.github.io/labs/agent-readiness-canvas.html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526694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7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Operations</a:t>
            </a:r>
            <a:endParaRPr lang="en-US" sz="1100" dirty="0"/>
          </a:p>
        </p:txBody>
      </p:sp>
      <p:sp>
        <p:nvSpPr>
          <p:cNvPr id="22" name="Text 20">
            <a:hlinkClick r:id="rId2" tooltip=""/>
          </p:cNvPr>
          <p:cNvSpPr/>
          <p:nvPr/>
        </p:nvSpPr>
        <p:spPr>
          <a:xfrm>
            <a:off x="7845552" y="52303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kienlef.github.io/ai-agents-in-operations/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0352" y="5614416"/>
            <a:ext cx="11128248" cy="438912"/>
          </a:xfrm>
          <a:prstGeom prst="roundRect">
            <a:avLst>
              <a:gd name="adj" fmla="val 16667"/>
            </a:avLst>
          </a:prstGeom>
          <a:solidFill>
            <a:srgbClr val="12102B"/>
          </a:solidFill>
          <a:ln w="12700">
            <a:solidFill>
              <a:srgbClr val="162E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57332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F7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72768" y="5696712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label, evidence action, and owner on the canvas.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84464" y="56967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7B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 one-page handover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4754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7BCD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Frank Kienle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Readiness Workshop for Operations Professionals</dc:title>
  <dc:subject>A tactile workshop for assessing whether an operational workflow is ready for bounded AI-agent support.</dc:subject>
  <dc:creator>Frank Kienle</dc:creator>
  <cp:lastModifiedBy>Frank Kienle</cp:lastModifiedBy>
  <cp:revision>1</cp:revision>
  <dcterms:created xsi:type="dcterms:W3CDTF">2026-09-06T16:55:48Z</dcterms:created>
  <dcterms:modified xsi:type="dcterms:W3CDTF">2026-09-06T16:55:48Z</dcterms:modified>
</cp:coreProperties>
</file>